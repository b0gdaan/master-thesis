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AD"/>
                </a:solidFill>
                <a:latin typeface="Calibri"/>
              </a:rPr>
              <a:t>M.Sc. Artificial Intelligence  ·  University of Kragujevac, Serbia  ·  2023–2026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Forecasting Time-Varying Intermarket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Dependencies Between Cryptocurrencies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and Conventional Assets Using</a:t>
            </a:r>
          </a:p>
          <a:p>
            <a:pPr algn="l"/>
            <a:r>
              <a:rPr sz="3400" b="1" i="0">
                <a:solidFill>
                  <a:srgbClr val="2E86AB"/>
                </a:solidFill>
                <a:latin typeface="Georgia"/>
              </a:rPr>
              <a:t>Machine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520440"/>
            <a:ext cx="54864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Bogdan Babaev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AD"/>
                </a:solidFill>
                <a:latin typeface="Calibri"/>
              </a:rPr>
              <a:t>github.com/b0gdaan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703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86AB"/>
                </a:solidFill>
                <a:latin typeface="Calibri"/>
              </a:rPr>
              <a:t>Thesis 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023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AD"/>
                </a:solidFill>
                <a:latin typeface="Calibri"/>
              </a:rPr>
              <a:t>April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343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AD"/>
                </a:solidFill>
                <a:latin typeface="Calibri"/>
              </a:rPr>
              <a:t>Faculty of Engineering Sciences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AD"/>
                </a:solidFill>
                <a:latin typeface="Calibri"/>
              </a:rPr>
              <a:t>Keywords: time series · intermarket dependency · walk-forward ML · DCC-GARCH · rolling correlation · Fisher-z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54864" cy="680313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DBB"/>
                </a:solidFill>
                <a:latin typeface="Calibri"/>
              </a:rPr>
              <a:t>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Georgia"/>
              </a:rPr>
              <a:t>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21207"/>
            <a:ext cx="11274552" cy="27432"/>
          </a:xfrm>
          <a:prstGeom prst="rect">
            <a:avLst/>
          </a:prstGeom>
          <a:solidFill>
            <a:srgbClr val="CBD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685800"/>
            <a:ext cx="502920" cy="50292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7315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86AB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777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Motivation &amp; Research Problem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764792"/>
            <a:ext cx="502920" cy="50292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1051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86AB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856231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Research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43784"/>
            <a:ext cx="502920" cy="50292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89503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86AB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93522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Dataset &amp; Asset Universe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22776"/>
            <a:ext cx="502920" cy="50292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6849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86AB"/>
                </a:solidFill>
                <a:latin typeface="Georgi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014215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Methodology — Pipeline Overview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001768"/>
            <a:ext cx="502920" cy="50292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4748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86AB"/>
                </a:solidFill>
                <a:latin typeface="Georgia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093207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Target Construction &amp; Feature Engineering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685800"/>
            <a:ext cx="502920" cy="50292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7315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86AB"/>
                </a:solidFill>
                <a:latin typeface="Georgia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777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Walk-Forward Evaluation &amp; Model Suite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1764792"/>
            <a:ext cx="502920" cy="50292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81051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86AB"/>
                </a:solidFill>
                <a:latin typeface="Georgia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1856231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Key Results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2843784"/>
            <a:ext cx="502920" cy="50292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889503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86AB"/>
                </a:solidFill>
                <a:latin typeface="Georgia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293522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Persistence Dominance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3922776"/>
            <a:ext cx="502920" cy="50292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396849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86AB"/>
                </a:solidFill>
                <a:latin typeface="Georgia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4014215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Investor Signal Layer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5001768"/>
            <a:ext cx="502920" cy="50292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504748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86AB"/>
                </a:solidFill>
                <a:latin typeface="Georgia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5093207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Conclusions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54864" cy="680313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DBB"/>
                </a:solidFill>
                <a:latin typeface="Calibri"/>
              </a:rPr>
              <a:t>3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86AB"/>
                </a:solidFill>
                <a:latin typeface="Georgia"/>
              </a:rPr>
              <a:t>MOTIVATION &amp; RESEARCH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86968"/>
            <a:ext cx="11274552" cy="27432"/>
          </a:xfrm>
          <a:prstGeom prst="rect">
            <a:avLst/>
          </a:prstGeom>
          <a:solidFill>
            <a:srgbClr val="CBD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3B"/>
                </a:solidFill>
                <a:latin typeface="Calibri"/>
              </a:rPr>
              <a:t>Cryptocurrencies no longer move in isolation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Post-2020: BTC increasingly correlates with equities (S&amp;P 500, NASDAQ) during stress events</a:t>
            </a:r>
          </a:p>
          <a:p>
            <a:pPr algn="l"/>
            <a:r>
              <a:rPr sz="6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400" b="1" i="0">
                <a:solidFill>
                  <a:srgbClr val="1B2A3B"/>
                </a:solidFill>
                <a:latin typeface="Calibri"/>
              </a:rPr>
              <a:t>The correlation is time-varying, not static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Traditional static models miss regime shifts — correlation can flip sign in weeks</a:t>
            </a:r>
          </a:p>
          <a:p>
            <a:pPr algn="l"/>
            <a:r>
              <a:rPr sz="6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400" b="1" i="0">
                <a:solidFill>
                  <a:srgbClr val="1B2A3B"/>
                </a:solidFill>
                <a:latin typeface="Calibri"/>
              </a:rPr>
              <a:t>Why forecasting matters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Portfolio managers, risk desks, and quant funds need forward-looking dependency estimates — not just backward-looking correlations</a:t>
            </a:r>
          </a:p>
          <a:p>
            <a:pPr algn="l"/>
            <a:r>
              <a:rPr sz="6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400" b="1" i="0">
                <a:solidFill>
                  <a:srgbClr val="1B2A3B"/>
                </a:solidFill>
                <a:latin typeface="Calibri"/>
              </a:rPr>
              <a:t>ML vs Econometric benchmarks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DCC-GARCH(1,1) is the industry standard — but can machine learning beat it?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051560"/>
            <a:ext cx="3840480" cy="530352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2801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86AB"/>
                </a:solidFill>
                <a:latin typeface="Georgia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9BAD"/>
                </a:solidFill>
                <a:latin typeface="Calibri"/>
              </a:rPr>
              <a:t>Asset classes analyzed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2359152"/>
            <a:ext cx="2926080" cy="182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4688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86AB"/>
                </a:solidFill>
                <a:latin typeface="Georgia"/>
              </a:rPr>
              <a:t>10 yrs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017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9BAD"/>
                </a:solidFill>
                <a:latin typeface="Calibri"/>
              </a:rPr>
              <a:t>Daily price data (2016–2026)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3547872"/>
            <a:ext cx="2926080" cy="182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3657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86AB"/>
                </a:solidFill>
                <a:latin typeface="Georg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206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9BAD"/>
                </a:solidFill>
                <a:latin typeface="Calibri"/>
              </a:rPr>
              <a:t>Rolling window sizes
14 / 30 / 60 / 90 days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4736592"/>
            <a:ext cx="2926080" cy="182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48463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86AB"/>
                </a:solidFill>
                <a:latin typeface="Georgia"/>
              </a:rPr>
              <a:t>6+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5394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9BAD"/>
                </a:solidFill>
                <a:latin typeface="Calibri"/>
              </a:rPr>
              <a:t>ML models benchmarked
vs DCC-GARCH(1,1)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AD"/>
                </a:solidFill>
                <a:latin typeface="Calibri"/>
              </a:rPr>
              <a:t>4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Georgia"/>
              </a:rPr>
              <a:t>RESEARCH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48640"/>
            <a:ext cx="11274552" cy="2743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777240"/>
            <a:ext cx="5486400" cy="228600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777240"/>
            <a:ext cx="73152" cy="2286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8869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Georgia"/>
              </a:rPr>
              <a:t>RQ1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Forecastability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45919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3"/>
                </a:solidFill>
                <a:latin typeface="Calibri"/>
              </a:rPr>
              <a:t>Are time-varying intermarket dependencies between BTC and conventional assets forecastable one step ahead?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777240"/>
            <a:ext cx="5486400" cy="228600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777240"/>
            <a:ext cx="73152" cy="2286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8869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Georgia"/>
              </a:rPr>
              <a:t>RQ2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2527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ML vs DCC-GARCH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645919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3"/>
                </a:solidFill>
                <a:latin typeface="Calibri"/>
              </a:rPr>
              <a:t>Do ML models (ElasticNet, Ridge, GBM, XGBoost) outperform the DCC-GARCH(1,1) econometric benchmark under leakage-safe walk-forward evaluation?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37560"/>
            <a:ext cx="5486400" cy="228600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337560"/>
            <a:ext cx="73152" cy="2286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4472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Georgia"/>
              </a:rPr>
              <a:t>RQ3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8130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Feature Importance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062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3"/>
                </a:solidFill>
                <a:latin typeface="Calibri"/>
              </a:rPr>
              <a:t>Which predictors carry the most information — historical dependency persistence, volatility, or cross-asset momentum signals?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337560"/>
            <a:ext cx="5486400" cy="228600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3337560"/>
            <a:ext cx="73152" cy="2286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4472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Georgia"/>
              </a:rPr>
              <a:t>RQ4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8130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Signal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2062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3"/>
                </a:solidFill>
                <a:latin typeface="Calibri"/>
              </a:rPr>
              <a:t>Can crypto-derived features predict investor stress days in traditional asset markets (binary classification task)?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54864" cy="680313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DBB"/>
                </a:solidFill>
                <a:latin typeface="Calibri"/>
              </a:rPr>
              <a:t>5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86AB"/>
                </a:solidFill>
                <a:latin typeface="Georgia"/>
              </a:rPr>
              <a:t>ASSET UNIVERSE &amp; 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86968"/>
            <a:ext cx="11274552" cy="27432"/>
          </a:xfrm>
          <a:prstGeom prst="rect">
            <a:avLst/>
          </a:prstGeom>
          <a:solidFill>
            <a:srgbClr val="CBD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1234440" cy="347472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024128"/>
            <a:ext cx="1143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Symbol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005840"/>
            <a:ext cx="3063240" cy="347472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01952" y="1024128"/>
            <a:ext cx="2971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Asset 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005840"/>
            <a:ext cx="3246120" cy="347472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02352" y="1024128"/>
            <a:ext cx="3154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Class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005840"/>
            <a:ext cx="3657600" cy="347472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1024128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371600"/>
            <a:ext cx="1234440" cy="457200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144475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86AB"/>
                </a:solidFill>
                <a:latin typeface="Calibri"/>
              </a:rPr>
              <a:t>BTC-USD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1371600"/>
            <a:ext cx="3063240" cy="457200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01952" y="144475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Bitcoin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1371600"/>
            <a:ext cx="3246120" cy="457200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02352" y="1444752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Cryptocurrency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1371600"/>
            <a:ext cx="3657600" cy="457200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85632" y="144475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Base asset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1847088"/>
            <a:ext cx="1234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192024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86AB"/>
                </a:solidFill>
                <a:latin typeface="Calibri"/>
              </a:rPr>
              <a:t>ETH-USD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1847088"/>
            <a:ext cx="30632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01952" y="192024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Ethereum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1847088"/>
            <a:ext cx="3246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02352" y="1920240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Cryptocurrency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1847088"/>
            <a:ext cx="3657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85632" y="19202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Crypto reference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2322576"/>
            <a:ext cx="1234440" cy="457200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239572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86AB"/>
                </a:solidFill>
                <a:latin typeface="Calibri"/>
              </a:rPr>
              <a:t>^GSPC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0" y="2322576"/>
            <a:ext cx="3063240" cy="457200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01952" y="239572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S&amp;P 500 Index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0" y="2322576"/>
            <a:ext cx="3246120" cy="457200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02352" y="2395728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Equity Index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2322576"/>
            <a:ext cx="3657600" cy="457200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85632" y="239572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Conventional ref.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2798064"/>
            <a:ext cx="1234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2" y="2871216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86AB"/>
                </a:solidFill>
                <a:latin typeface="Calibri"/>
              </a:rPr>
              <a:t>^IXIC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0" y="2798064"/>
            <a:ext cx="30632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01952" y="2871216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NASDAQ Composite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0" y="2798064"/>
            <a:ext cx="3246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02352" y="2871216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Equity Index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2798064"/>
            <a:ext cx="3657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85632" y="287121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Conventional ref.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3273552"/>
            <a:ext cx="1234440" cy="457200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6072" y="334670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86AB"/>
                </a:solidFill>
                <a:latin typeface="Calibri"/>
              </a:rPr>
              <a:t>GLD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0" y="3273552"/>
            <a:ext cx="3063240" cy="457200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01952" y="334670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SPDR Gold Shares ETF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0" y="3273552"/>
            <a:ext cx="3246120" cy="457200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02352" y="3346704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Precious Metal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0" y="3273552"/>
            <a:ext cx="3657600" cy="457200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85632" y="334670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Safe-haven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3749039"/>
            <a:ext cx="1234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6072" y="3822191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86AB"/>
                </a:solidFill>
                <a:latin typeface="Calibri"/>
              </a:rPr>
              <a:t>SLV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0" y="3749039"/>
            <a:ext cx="30632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901952" y="3822191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iShares Silver Trust ETF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0" y="3749039"/>
            <a:ext cx="3246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02352" y="3822191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Precious Metal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12480" y="3749039"/>
            <a:ext cx="3657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85632" y="3822191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Safe-haven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4224528"/>
            <a:ext cx="1234440" cy="457200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76072" y="429768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86AB"/>
                </a:solidFill>
                <a:latin typeface="Calibri"/>
              </a:rPr>
              <a:t>UUP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0" y="4224528"/>
            <a:ext cx="3063240" cy="457200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901952" y="42976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Invesco US Dollar Index ETF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0" y="4224528"/>
            <a:ext cx="3246120" cy="457200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102352" y="4297680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Currency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412480" y="4224528"/>
            <a:ext cx="3657600" cy="457200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85632" y="42976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FX / risk-off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" y="4937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AD"/>
                </a:solidFill>
                <a:latin typeface="Calibri"/>
              </a:rPr>
              <a:t>Source: Yahoo Finance  ·  Daily closing prices  ·  January 2016 – January 2026  ·  ~2,500 trading days per series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5303520"/>
            <a:ext cx="11155680" cy="118872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53766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86AB"/>
                </a:solidFill>
                <a:latin typeface="Calibri"/>
              </a:rPr>
              <a:t>Returns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565099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EF3"/>
                </a:solidFill>
                <a:latin typeface="Calibri"/>
              </a:rPr>
              <a:t>Log-returns computed to ensure stationarity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43400" y="53766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86AB"/>
                </a:solidFill>
                <a:latin typeface="Calibri"/>
              </a:rPr>
              <a:t>Alignment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43400" y="565099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EF3"/>
                </a:solidFill>
                <a:latin typeface="Calibri"/>
              </a:rPr>
              <a:t>Inner-join on trading dates (BTC trades 24/7; weekends excluded)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46719" y="53766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86AB"/>
                </a:solidFill>
                <a:latin typeface="Calibri"/>
              </a:rPr>
              <a:t>Coverage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19" y="565099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EF3"/>
                </a:solidFill>
                <a:latin typeface="Calibri"/>
              </a:rPr>
              <a:t>Full sample: 2016–2026  ·  Training cutoff: 2016–2021  ·  OOS test: 2021–2026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AD"/>
                </a:solidFill>
                <a:latin typeface="Calibri"/>
              </a:rPr>
              <a:t>6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Georgia"/>
              </a:rPr>
              <a:t>METHODOLOGY — PIPELINE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48640"/>
            <a:ext cx="11274552" cy="2743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80843" y="2560320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86AB"/>
                </a:solidFill>
                <a:latin typeface="Calibri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5" y="1005840"/>
            <a:ext cx="1645920" cy="30175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6635" y="1005840"/>
            <a:ext cx="1645920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5" y="1051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86AB"/>
                </a:solidFill>
                <a:latin typeface="Georg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5" y="141732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Acquisition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7" y="2194560"/>
            <a:ext cx="14996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D"/>
                </a:solidFill>
                <a:latin typeface="Calibri"/>
              </a:rPr>
              <a:t>Yahoo Finance</a:t>
            </a:r>
          </a:p>
          <a:p>
            <a:pPr algn="ctr"/>
            <a:r>
              <a:rPr sz="1000" b="0" i="0">
                <a:solidFill>
                  <a:srgbClr val="8A9BAD"/>
                </a:solidFill>
                <a:latin typeface="Calibri"/>
              </a:rPr>
              <a:t>yfinance API</a:t>
            </a:r>
          </a:p>
          <a:p>
            <a:pPr algn="ctr"/>
            <a:r>
              <a:rPr sz="1000" b="0" i="0">
                <a:solidFill>
                  <a:srgbClr val="8A9BAD"/>
                </a:solidFill>
                <a:latin typeface="Calibri"/>
              </a:rPr>
              <a:t>Daily OHLCV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2795" y="2560320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86AB"/>
                </a:solidFill>
                <a:latin typeface="Calibri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8587" y="1005840"/>
            <a:ext cx="1645920" cy="30175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18587" y="1005840"/>
            <a:ext cx="1645920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18587" y="1051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86AB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4307" y="141732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Return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Construction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1739" y="2194560"/>
            <a:ext cx="14996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D"/>
                </a:solidFill>
                <a:latin typeface="Calibri"/>
              </a:rPr>
              <a:t>Log-returns</a:t>
            </a:r>
          </a:p>
          <a:p>
            <a:pPr algn="ctr"/>
            <a:r>
              <a:rPr sz="1000" b="0" i="0">
                <a:solidFill>
                  <a:srgbClr val="8A9BAD"/>
                </a:solidFill>
                <a:latin typeface="Calibri"/>
              </a:rPr>
              <a:t>Inner-join align</a:t>
            </a:r>
          </a:p>
          <a:p>
            <a:pPr algn="ctr"/>
            <a:r>
              <a:rPr sz="1000" b="0" i="0">
                <a:solidFill>
                  <a:srgbClr val="8A9BAD"/>
                </a:solidFill>
                <a:latin typeface="Calibri"/>
              </a:rPr>
              <a:t>Stationary series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4747" y="2560320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86AB"/>
                </a:solidFill>
                <a:latin typeface="Calibri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540" y="1005840"/>
            <a:ext cx="1645920" cy="30175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20540" y="1005840"/>
            <a:ext cx="1645920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0540" y="1051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86AB"/>
                </a:solidFill>
                <a:latin typeface="Georgi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6259" y="141732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Rolling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Correlation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3692" y="2194560"/>
            <a:ext cx="14996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D"/>
                </a:solidFill>
                <a:latin typeface="Calibri"/>
              </a:rPr>
              <a:t>Pearson corr.</a:t>
            </a:r>
          </a:p>
          <a:p>
            <a:pPr algn="ctr"/>
            <a:r>
              <a:rPr sz="1000" b="0" i="0">
                <a:solidFill>
                  <a:srgbClr val="8A9BAD"/>
                </a:solidFill>
                <a:latin typeface="Calibri"/>
              </a:rPr>
              <a:t>14/30/60/90d</a:t>
            </a:r>
          </a:p>
          <a:p>
            <a:pPr algn="ctr"/>
            <a:r>
              <a:rPr sz="1000" b="0" i="0">
                <a:solidFill>
                  <a:srgbClr val="8A9BAD"/>
                </a:solidFill>
                <a:latin typeface="Calibri"/>
              </a:rPr>
              <a:t>Fisher-z transform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86700" y="2560320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86AB"/>
                </a:solidFill>
                <a:latin typeface="Calibri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22492" y="1005840"/>
            <a:ext cx="1645920" cy="30175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22492" y="1005840"/>
            <a:ext cx="1645920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22492" y="1051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86AB"/>
                </a:solidFill>
                <a:latin typeface="Georgia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8212" y="141732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Feature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Engineering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5644" y="2194560"/>
            <a:ext cx="14996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D"/>
                </a:solidFill>
                <a:latin typeface="Calibri"/>
              </a:rPr>
              <a:t>Momentum</a:t>
            </a:r>
          </a:p>
          <a:p>
            <a:pPr algn="ctr"/>
            <a:r>
              <a:rPr sz="1000" b="0" i="0">
                <a:solidFill>
                  <a:srgbClr val="8A9BAD"/>
                </a:solidFill>
                <a:latin typeface="Calibri"/>
              </a:rPr>
              <a:t>Volatility</a:t>
            </a:r>
          </a:p>
          <a:p>
            <a:pPr algn="ctr"/>
            <a:r>
              <a:rPr sz="1000" b="0" i="0">
                <a:solidFill>
                  <a:srgbClr val="8A9BAD"/>
                </a:solidFill>
                <a:latin typeface="Calibri"/>
              </a:rPr>
              <a:t>Lag persistence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8652" y="2560320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86AB"/>
                </a:solidFill>
                <a:latin typeface="Calibri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24444" y="1005840"/>
            <a:ext cx="1645920" cy="30175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24444" y="1005840"/>
            <a:ext cx="1645920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24444" y="1051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86AB"/>
                </a:solidFill>
                <a:latin typeface="Georgia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0164" y="141732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Walk-Forward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Eval.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97596" y="2194560"/>
            <a:ext cx="14996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D"/>
                </a:solidFill>
                <a:latin typeface="Calibri"/>
              </a:rPr>
              <a:t>Expanding window</a:t>
            </a:r>
          </a:p>
          <a:p>
            <a:pPr algn="ctr"/>
            <a:r>
              <a:rPr sz="1000" b="0" i="0">
                <a:solidFill>
                  <a:srgbClr val="8A9BAD"/>
                </a:solidFill>
                <a:latin typeface="Calibri"/>
              </a:rPr>
              <a:t>No data leakage</a:t>
            </a:r>
          </a:p>
          <a:p>
            <a:pPr algn="ctr"/>
            <a:r>
              <a:rPr sz="1000" b="0" i="0">
                <a:solidFill>
                  <a:srgbClr val="8A9BAD"/>
                </a:solidFill>
                <a:latin typeface="Calibri"/>
              </a:rPr>
              <a:t>Refit every 20d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26396" y="1005840"/>
            <a:ext cx="1645920" cy="30175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026396" y="1005840"/>
            <a:ext cx="1645920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26396" y="1051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86AB"/>
                </a:solidFill>
                <a:latin typeface="Georgia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72116" y="141732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Model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Benchmark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99548" y="2194560"/>
            <a:ext cx="14996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D"/>
                </a:solidFill>
                <a:latin typeface="Calibri"/>
              </a:rPr>
              <a:t>6 ML models</a:t>
            </a:r>
          </a:p>
          <a:p>
            <a:pPr algn="ctr"/>
            <a:r>
              <a:rPr sz="1000" b="0" i="0">
                <a:solidFill>
                  <a:srgbClr val="8A9BAD"/>
                </a:solidFill>
                <a:latin typeface="Calibri"/>
              </a:rPr>
              <a:t>vs DCC-GARCH</a:t>
            </a:r>
          </a:p>
          <a:p>
            <a:pPr algn="ctr"/>
            <a:r>
              <a:rPr sz="1000" b="0" i="0">
                <a:solidFill>
                  <a:srgbClr val="8A9BAD"/>
                </a:solidFill>
                <a:latin typeface="Calibri"/>
              </a:rPr>
              <a:t>DM significance test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206240"/>
            <a:ext cx="11274552" cy="7315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3434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3"/>
                </a:solidFill>
                <a:latin typeface="Calibri"/>
              </a:rPr>
              <a:t>All evaluation is performed under strict walk-forward expanding-window protocol. At each step, the model is trained on all available history up to t and predicts one step ahead. No future information leaks into training. Models are refit every 20 trading days.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54864" cy="680313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DBB"/>
                </a:solidFill>
                <a:latin typeface="Calibri"/>
              </a:rPr>
              <a:t>7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86AB"/>
                </a:solidFill>
                <a:latin typeface="Georgia"/>
              </a:rPr>
              <a:t>TARGET CONSTRUCTION &amp; FEATURE ENGINEERING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86968"/>
            <a:ext cx="11274552" cy="27432"/>
          </a:xfrm>
          <a:prstGeom prst="rect">
            <a:avLst/>
          </a:prstGeom>
          <a:solidFill>
            <a:srgbClr val="CBD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3B"/>
                </a:solidFill>
                <a:latin typeface="Georgia"/>
              </a:rPr>
              <a:t>Rolling Pearson Correlation Target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669280" cy="1097280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81328"/>
            <a:ext cx="5486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B2A3B"/>
                </a:solidFill>
                <a:latin typeface="Calibri"/>
              </a:rPr>
              <a:t>rₜ(w) = Pearson corrₜ(BTC, Asset,  window=w)</a:t>
            </a:r>
          </a:p>
          <a:p>
            <a:pPr algn="l"/>
            <a:r>
              <a:rPr sz="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200" b="0" i="1">
                <a:solidFill>
                  <a:srgbClr val="1B2A3B"/>
                </a:solidFill>
                <a:latin typeface="Calibri"/>
              </a:rPr>
              <a:t>yₜ = arctanh( rₜ(w) )         ← Fisher-z transform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5669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Window sizes: w ∈ {14, 30, 60, 90} trading days</a:t>
            </a:r>
          </a:p>
          <a:p>
            <a:pPr algn="l"/>
            <a:r>
              <a:rPr sz="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▪  Fisher-z maps [−1, +1] to (−∞, +∞) — variance-stabilizing</a:t>
            </a:r>
          </a:p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▪  Correlation series is mean-reverting but persistent</a:t>
            </a:r>
          </a:p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▪  Prediction target: yₜ₊₁  (one-step-ahead)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051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3B"/>
                </a:solidFill>
                <a:latin typeface="Georgia"/>
              </a:rPr>
              <a:t>Feature Engineering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417320"/>
            <a:ext cx="5303520" cy="292608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144475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86AB"/>
                </a:solidFill>
                <a:latin typeface="Calibri"/>
              </a:rPr>
              <a:t>Persistence Features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1709928"/>
            <a:ext cx="5303520" cy="329184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3408" y="176479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▪  Lagged correlation yₜ₋₁, yₜ₋₂, yₜ₋₃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039112"/>
            <a:ext cx="5303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3408" y="209397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▪  Moving average of correlation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459736"/>
            <a:ext cx="5303520" cy="292608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248716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86AB"/>
                </a:solidFill>
                <a:latin typeface="Calibri"/>
              </a:rPr>
              <a:t>Momentum Features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2752344"/>
            <a:ext cx="5303520" cy="329184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93408" y="280720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▪  BTC rolling return (5d, 10d, 20d)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081527"/>
            <a:ext cx="5303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8" y="3136391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▪  Asset rolling return (5d, 10d, 20d)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3410711"/>
            <a:ext cx="5303520" cy="329184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93408" y="3465575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▪  Cross-asset momentum divergence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3831335"/>
            <a:ext cx="5303520" cy="292608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2" y="385876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86AB"/>
                </a:solidFill>
                <a:latin typeface="Calibri"/>
              </a:rPr>
              <a:t>Volatility Features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4123944"/>
            <a:ext cx="5303520" cy="329184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93408" y="4178807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▪  BTC rolling volatility (5d, 20d)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4453128"/>
            <a:ext cx="5303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93408" y="450799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▪  Asset rolling volatility (5d, 20d)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4782312"/>
            <a:ext cx="5303520" cy="329184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93408" y="483717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▪  Vol ratio BTC / asset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760720"/>
            <a:ext cx="11155680" cy="82296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824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EF3"/>
                </a:solidFill>
                <a:latin typeface="Calibri"/>
              </a:rPr>
              <a:t>All features are strictly lagged (look-back only) — no future information enters any feature. Features are standardized (z-score) before fitting linear models. Total feature count: ~18 predictors per (asset, window) pair.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AD"/>
                </a:solidFill>
                <a:latin typeface="Calibri"/>
              </a:rPr>
              <a:t>8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Georgia"/>
              </a:rPr>
              <a:t>WALK-FORWARD EVALUATION &amp; MODEL SUITE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48640"/>
            <a:ext cx="11274552" cy="2743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85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Walk-Forward Expanding Window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515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3"/>
                </a:solidFill>
                <a:latin typeface="Calibri"/>
              </a:rPr>
              <a:t>►  Min. training size: 800 observations (~3.2 years)</a:t>
            </a:r>
          </a:p>
          <a:p>
            <a:pPr algn="l"/>
            <a:r>
              <a:rPr sz="1150" b="0" i="0">
                <a:solidFill>
                  <a:srgbClr val="E8EEF3"/>
                </a:solidFill>
                <a:latin typeface="Calibri"/>
              </a:rPr>
              <a:t>►  Models refit every 20 trading days</a:t>
            </a:r>
          </a:p>
          <a:p>
            <a:pPr algn="l"/>
            <a:r>
              <a:rPr sz="1150" b="0" i="0">
                <a:solidFill>
                  <a:srgbClr val="E8EEF3"/>
                </a:solidFill>
                <a:latin typeface="Calibri"/>
              </a:rPr>
              <a:t>►  Predict t+1 using only data up to t</a:t>
            </a:r>
          </a:p>
          <a:p>
            <a:pPr algn="l"/>
            <a:r>
              <a:rPr sz="1150" b="0" i="0">
                <a:solidFill>
                  <a:srgbClr val="E8EEF3"/>
                </a:solidFill>
                <a:latin typeface="Calibri"/>
              </a:rPr>
              <a:t>►  Test period: 2021–2026 (out-of-sample)</a:t>
            </a:r>
          </a:p>
          <a:p>
            <a:pPr algn="l"/>
            <a:r>
              <a:rPr sz="1150" b="0" i="0">
                <a:solidFill>
                  <a:srgbClr val="E8EEF3"/>
                </a:solidFill>
                <a:latin typeface="Calibri"/>
              </a:rPr>
              <a:t>►  Evaluation metrics: RMSE, R², MAE</a:t>
            </a:r>
          </a:p>
          <a:p>
            <a:pPr algn="l"/>
            <a:r>
              <a:rPr sz="1150" b="0" i="0">
                <a:solidFill>
                  <a:srgbClr val="E8EEF3"/>
                </a:solidFill>
                <a:latin typeface="Calibri"/>
              </a:rPr>
              <a:t>►  Statistical significance: Diebold-Mariano test</a:t>
            </a:r>
          </a:p>
          <a:p>
            <a:pPr algn="l"/>
            <a:r>
              <a:rPr sz="1150" b="0" i="0">
                <a:solidFill>
                  <a:srgbClr val="8A9BAD"/>
                </a:solidFill>
                <a:latin typeface="Calibri"/>
              </a:rPr>
              <a:t>     with Newey-West heteroskedasticity-robust correction</a:t>
            </a:r>
          </a:p>
          <a:p>
            <a:pPr algn="l"/>
            <a:r>
              <a:rPr sz="1150" b="0" i="0">
                <a:solidFill>
                  <a:srgbClr val="E8EEF3"/>
                </a:solidFill>
                <a:latin typeface="Calibri"/>
              </a:rPr>
              <a:t>►  Bootstrap CI: 1,000 iterations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85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Model Suite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051560"/>
            <a:ext cx="5486400" cy="320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088136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088136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04120" y="1088136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371600"/>
            <a:ext cx="5486400" cy="39319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42646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Naive Last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42646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EF3"/>
                </a:solidFill>
                <a:latin typeface="Calibri"/>
              </a:rPr>
              <a:t>AR(0) — predict yₜ₋₁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04120" y="142646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AD"/>
                </a:solidFill>
                <a:latin typeface="Calibri"/>
              </a:rPr>
              <a:t>Baseline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783080"/>
            <a:ext cx="5486400" cy="393192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837943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AR(1)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837943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EF3"/>
                </a:solidFill>
                <a:latin typeface="Calibri"/>
              </a:rPr>
              <a:t>Autoregressive, 1 lag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04120" y="1837943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AD"/>
                </a:solidFill>
                <a:latin typeface="Calibri"/>
              </a:rPr>
              <a:t>Baseline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194560"/>
            <a:ext cx="5486400" cy="39319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24942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ElasticNet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24942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EF3"/>
                </a:solidFill>
                <a:latin typeface="Calibri"/>
              </a:rPr>
              <a:t>L1+L2 regularized linear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20" y="224942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AD"/>
                </a:solidFill>
                <a:latin typeface="Calibri"/>
              </a:rPr>
              <a:t>Linear ML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606040"/>
            <a:ext cx="5486400" cy="393192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66090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Ridge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6090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EF3"/>
                </a:solidFill>
                <a:latin typeface="Calibri"/>
              </a:rPr>
              <a:t>L2 regularized linear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20" y="266090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AD"/>
                </a:solidFill>
                <a:latin typeface="Calibri"/>
              </a:rPr>
              <a:t>Linear ML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017520"/>
            <a:ext cx="5486400" cy="39319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07238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GBM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07238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EF3"/>
                </a:solidFill>
                <a:latin typeface="Calibri"/>
              </a:rPr>
              <a:t>Gradient Boosted Trees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307238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AD"/>
                </a:solidFill>
                <a:latin typeface="Calibri"/>
              </a:rPr>
              <a:t>Tree ML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429000"/>
            <a:ext cx="5486400" cy="393192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348386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XGBoost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348386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EF3"/>
                </a:solidFill>
                <a:latin typeface="Calibri"/>
              </a:rPr>
              <a:t>Extreme Gradient Boosting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04120" y="348386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AD"/>
                </a:solidFill>
                <a:latin typeface="Calibri"/>
              </a:rPr>
              <a:t>Tree ML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840480"/>
            <a:ext cx="5486400" cy="39319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389534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86AB"/>
                </a:solidFill>
                <a:latin typeface="Calibri"/>
              </a:rPr>
              <a:t>DCC-GARCH(1,1)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389534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EF3"/>
                </a:solidFill>
                <a:latin typeface="Calibri"/>
              </a:rPr>
              <a:t>Engle 2002, leakage-safe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04120" y="389534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AD"/>
                </a:solidFill>
                <a:latin typeface="Calibri"/>
              </a:rPr>
              <a:t>Econometric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4663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86AB"/>
                </a:solidFill>
                <a:latin typeface="Calibri"/>
              </a:rPr>
              <a:t>Evaluation per (asset pair, window) combination: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98348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3"/>
                </a:solidFill>
                <a:latin typeface="Calibri"/>
              </a:rPr>
              <a:t>6 target assets  ×  4 rolling windows = 24 unique (pair, window) combinations
Each combination evaluated with all 7 models
Total forecasts: 24 × 7 = 168 model evaluations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54864" cy="680313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DBB"/>
                </a:solidFill>
                <a:latin typeface="Calibri"/>
              </a:rPr>
              <a:t>9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86AB"/>
                </a:solidFill>
                <a:latin typeface="Georgia"/>
              </a:rPr>
              <a:t>KEY RESULTS — MODEL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86968"/>
            <a:ext cx="11274552" cy="27432"/>
          </a:xfrm>
          <a:prstGeom prst="rect">
            <a:avLst/>
          </a:prstGeom>
          <a:solidFill>
            <a:srgbClr val="CBD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24128"/>
            <a:ext cx="2560320" cy="9144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7899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XGBoost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8132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Best overall
ML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39" y="1024128"/>
            <a:ext cx="2560320" cy="914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39" y="107899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GBM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39" y="148132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2nd best
most pairs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59" y="1024128"/>
            <a:ext cx="2560320" cy="9144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59" y="107899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DCC-GARCH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148132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Competitive
benchmark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024128"/>
            <a:ext cx="2560320" cy="914400"/>
          </a:xfrm>
          <a:prstGeom prst="rect">
            <a:avLst/>
          </a:prstGeom>
          <a:solidFill>
            <a:srgbClr val="84B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107899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AR(1)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148132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Strong
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5740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3B"/>
                </a:solidFill>
                <a:latin typeface="Georgia"/>
              </a:rPr>
              <a:t>Representative RMSE Results  (BTC–GSPC pair, 30-day window, out-of-sample)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377440"/>
            <a:ext cx="11155680" cy="329184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4048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2404872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RMSE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40487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59" y="2404872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vs DCC-GARCH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2404872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DM p-value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724912"/>
            <a:ext cx="11155680" cy="384048"/>
          </a:xfrm>
          <a:prstGeom prst="rect">
            <a:avLst/>
          </a:prstGeom>
          <a:solidFill>
            <a:srgbClr val="E3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788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86AB"/>
                </a:solidFill>
                <a:latin typeface="Calibri"/>
              </a:rPr>
              <a:t>XGBoost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278892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0.0412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27889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0.681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59" y="278892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− (reference)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278892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127248"/>
            <a:ext cx="11155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1912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GBM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71800" y="3191256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0.0438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319125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0.654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59" y="3191256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+6.3% RMSE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3191256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0.041 *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529584"/>
            <a:ext cx="11155680" cy="384048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59359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ElasticNet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71800" y="3593591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0.0467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3593591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0.621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59" y="3593591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+13.3% RMSE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593591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0.012 **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3931920"/>
            <a:ext cx="11155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39959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Ridge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71800" y="3995928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0.0471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43400" y="39959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0.617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3559" y="399592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+14.3% RMSE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2520" y="3995928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0.008 **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4334256"/>
            <a:ext cx="11155680" cy="384048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43982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DCC-GARCH(1,1)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71800" y="4398264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0.0489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43400" y="4398264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0.598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23559" y="439826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+18.7% RMSE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32520" y="4398264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0.003 **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4736592"/>
            <a:ext cx="11155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4800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AR(1)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71800" y="480060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0.0521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43400" y="480060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0.541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23559" y="480060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+26.5% RMSE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32520" y="480060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&lt; 0.001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5138928"/>
            <a:ext cx="11155680" cy="384048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52029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Naive Last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71800" y="5202936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0.0583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43400" y="520293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0.443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23559" y="5202936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+41.5% RMSE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32520" y="5202936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&lt; 0.001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920" y="562356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A9BAD"/>
                </a:solidFill>
                <a:latin typeface="Calibri"/>
              </a:rPr>
              <a:t>* p &lt; 0.05   ** p &lt; 0.01  (two-sided Diebold-Mariano test with Newey-West correction, H₀: equal predictive accuracy)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AD"/>
                </a:solidFill>
                <a:latin typeface="Calibri"/>
              </a:rPr>
              <a:t>10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Georgia"/>
              </a:rPr>
              <a:t>FINDING: PERSISTENCE DOMINANCE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48640"/>
            <a:ext cx="11274552" cy="2743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858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What drives predictive accuracy?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EEF3"/>
                </a:solidFill>
                <a:latin typeface="Calibri"/>
              </a:rPr>
              <a:t>The most important predictive signal is the lagged correlation itself.</a:t>
            </a:r>
          </a:p>
          <a:p>
            <a:pPr algn="l"/>
            <a:r>
              <a:rPr sz="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8A9BAD"/>
                </a:solidFill>
                <a:latin typeface="Calibri"/>
              </a:rPr>
              <a:t>Dependency series exhibit strong autocorrelation — especially at longer windows (60d, 90d). The AR(1) baseline captures ~54% of XGBoost performance using only one feature.</a:t>
            </a:r>
          </a:p>
          <a:p>
            <a:pPr algn="l"/>
            <a:r>
              <a:rPr sz="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Feature importance ranking (XGBoost, average across all pairs):</a:t>
            </a:r>
          </a:p>
          <a:p>
            <a:pPr algn="l"/>
            <a:r>
              <a:rPr sz="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2E86AB"/>
                </a:solidFill>
                <a:latin typeface="Calibri"/>
              </a:rPr>
              <a:t>  1. ▓▓▓▓▓▓▓▓▓  y(t-1) — lagged correlation     ~42% importance</a:t>
            </a:r>
          </a:p>
          <a:p>
            <a:pPr algn="l"/>
            <a:r>
              <a:rPr sz="1150" b="0" i="0">
                <a:solidFill>
                  <a:srgbClr val="E8EEF3"/>
                </a:solidFill>
                <a:latin typeface="Calibri"/>
              </a:rPr>
              <a:t>  2. ▓▓▓▓▓▓     y(t-2), MA correlation      ~21% importance</a:t>
            </a:r>
          </a:p>
          <a:p>
            <a:pPr algn="l"/>
            <a:r>
              <a:rPr sz="1150" b="0" i="0">
                <a:solidFill>
                  <a:srgbClr val="E8EEF3"/>
                </a:solidFill>
                <a:latin typeface="Calibri"/>
              </a:rPr>
              <a:t>  3. ▓▓▓▓       BTC volatility (20d)         ~16% importance</a:t>
            </a:r>
          </a:p>
          <a:p>
            <a:pPr algn="l"/>
            <a:r>
              <a:rPr sz="1150" b="0" i="0">
                <a:solidFill>
                  <a:srgbClr val="8A9BAD"/>
                </a:solidFill>
                <a:latin typeface="Calibri"/>
              </a:rPr>
              <a:t>  4. ▓▓▓        Cross-asset momentum         ~11% importance</a:t>
            </a:r>
          </a:p>
          <a:p>
            <a:pPr algn="l"/>
            <a:r>
              <a:rPr sz="1150" b="0" i="0">
                <a:solidFill>
                  <a:srgbClr val="8A9BAD"/>
                </a:solidFill>
                <a:latin typeface="Calibri"/>
              </a:rPr>
              <a:t>  5. ▓▓         Other features               ~10% importance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685800"/>
            <a:ext cx="5303520" cy="320040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685800"/>
            <a:ext cx="5303520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8046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86AB"/>
                </a:solidFill>
                <a:latin typeface="Georgia"/>
              </a:rPr>
              <a:t>KEY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207008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3"/>
                </a:solidFill>
                <a:latin typeface="Calibri"/>
              </a:rPr>
              <a:t>Intermarket dependency is forecastable precisely because it is persistent. Once the dependency structure shifts (e.g., BTC–S&amp;P500 correlation rises during a market crash), it tends to remain elevated for weeks.
ML models add value over DCC-GARCH by capturing nonlinear interactions between persistence, volatility regimes, and momentum — not by discovering entirely new signals.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0690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Performance vs. Window Size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4480560"/>
            <a:ext cx="5303520" cy="45720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2" y="45445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  <a:latin typeface="Calibri"/>
              </a:rPr>
              <a:t>14-day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45445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EF3"/>
                </a:solidFill>
                <a:latin typeface="Calibri"/>
              </a:rPr>
              <a:t>Noisy — harder to forecast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45445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D"/>
                </a:solidFill>
                <a:latin typeface="Calibri"/>
              </a:rPr>
              <a:t>Lowest R²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4956048"/>
            <a:ext cx="5303520" cy="4572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502005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  <a:latin typeface="Calibri"/>
              </a:rPr>
              <a:t>30-day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50200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EF3"/>
                </a:solidFill>
                <a:latin typeface="Calibri"/>
              </a:rPr>
              <a:t>Best balance of signal/noise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502005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D"/>
                </a:solidFill>
                <a:latin typeface="Calibri"/>
              </a:rPr>
              <a:t>Highest DM significance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5431536"/>
            <a:ext cx="5303520" cy="45720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6832" y="549554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  <a:latin typeface="Calibri"/>
              </a:rPr>
              <a:t>60-day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54955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EF3"/>
                </a:solidFill>
                <a:latin typeface="Calibri"/>
              </a:rPr>
              <a:t>High persistence — easier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54955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D"/>
                </a:solidFill>
                <a:latin typeface="Calibri"/>
              </a:rPr>
              <a:t>Strong XGBoost advantage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5907024"/>
            <a:ext cx="5303520" cy="4572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2" y="597103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  <a:latin typeface="Calibri"/>
              </a:rPr>
              <a:t>90-day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7808" y="5971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EF3"/>
                </a:solidFill>
                <a:latin typeface="Calibri"/>
              </a:rPr>
              <a:t>Smoothed — near-trivial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59710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D"/>
                </a:solidFill>
                <a:latin typeface="Calibri"/>
              </a:rPr>
              <a:t>AR(1) almost matches XGBoost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54864" cy="680313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DBB"/>
                </a:solidFill>
                <a:latin typeface="Calibri"/>
              </a:rPr>
              <a:t>11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86AB"/>
                </a:solidFill>
                <a:latin typeface="Georgia"/>
              </a:rPr>
              <a:t>INVESTOR SIGNAL LAYER — STRESS-DAY 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86968"/>
            <a:ext cx="11274552" cy="27432"/>
          </a:xfrm>
          <a:prstGeom prst="rect">
            <a:avLst/>
          </a:prstGeom>
          <a:solidFill>
            <a:srgbClr val="CBD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3B"/>
                </a:solidFill>
                <a:latin typeface="Georgia"/>
              </a:rPr>
              <a:t>Task: Binary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5760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3B"/>
                </a:solidFill>
                <a:latin typeface="Calibri"/>
              </a:rPr>
              <a:t>Can crypto-market dynamics provide early warning of stress days in traditional asset markets?</a:t>
            </a:r>
          </a:p>
          <a:p>
            <a:pPr algn="l"/>
            <a:r>
              <a:rPr sz="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50" b="1" i="0">
                <a:solidFill>
                  <a:srgbClr val="1B2A3B"/>
                </a:solidFill>
                <a:latin typeface="Calibri"/>
              </a:rPr>
              <a:t>Stress day definition:</a:t>
            </a:r>
          </a:p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  A trading day is labeled 'stress' if the conventional asset (e.g., S&amp;P 500) experiences a return below −σ × 0.75 of its rolling 20-day standard deviation</a:t>
            </a:r>
          </a:p>
          <a:p>
            <a:pPr algn="l"/>
            <a:r>
              <a:rPr sz="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50" b="1" i="0">
                <a:solidFill>
                  <a:srgbClr val="1B2A3B"/>
                </a:solidFill>
                <a:latin typeface="Calibri"/>
              </a:rPr>
              <a:t>Features:</a:t>
            </a:r>
          </a:p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  ▪ BTC rolling returns (5d, 10d, 20d)</a:t>
            </a:r>
          </a:p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  ▪ BTC volatility ratios</a:t>
            </a:r>
          </a:p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  ▪ Lagged rolling correlation y(t-1), y(t-2)</a:t>
            </a:r>
          </a:p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  ▪ Crypto momentum divergence vs. asset</a:t>
            </a:r>
          </a:p>
          <a:p>
            <a:pPr algn="l"/>
            <a:r>
              <a:rPr sz="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1B2A3B"/>
                </a:solidFill>
                <a:latin typeface="Calibri"/>
              </a:rPr>
              <a:t>Classifiers: Logistic Regression, Random Forest, GBM</a:t>
            </a:r>
          </a:p>
          <a:p>
            <a:pPr algn="l"/>
            <a:r>
              <a:rPr sz="1150" b="0" i="0">
                <a:solidFill>
                  <a:srgbClr val="1B2A3B"/>
                </a:solidFill>
                <a:latin typeface="Calibri"/>
              </a:rPr>
              <a:t>Evaluation: F1-score, ROC-AUC (imbalanced classes ~8–12% stress)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051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3B"/>
                </a:solidFill>
                <a:latin typeface="Georgia"/>
              </a:rPr>
              <a:t>Classification Results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399032"/>
            <a:ext cx="5303520" cy="329184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426464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Classifier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912" y="1426464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F1 (stress)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2992" y="1426464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ROC-AUC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1746504"/>
            <a:ext cx="5303520" cy="384048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2" y="180136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2A3B"/>
                </a:solidFill>
                <a:latin typeface="Calibri"/>
              </a:rPr>
              <a:t>GBM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180136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0.47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22992" y="180136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0.74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148840"/>
            <a:ext cx="5303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220370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2A3B"/>
                </a:solidFill>
                <a:latin typeface="Calibri"/>
              </a:rPr>
              <a:t>Random Forest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2" y="220370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0.44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22992" y="220370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0.71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551176"/>
            <a:ext cx="5303520" cy="384048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6832" y="26060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2A3B"/>
                </a:solidFill>
                <a:latin typeface="Calibri"/>
              </a:rPr>
              <a:t>Logistic Regression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26060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0.38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26060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0.67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3017520"/>
            <a:ext cx="5303520" cy="237744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0" y="3017520"/>
            <a:ext cx="53035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31089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86AB"/>
                </a:solidFill>
                <a:latin typeface="Calibri"/>
              </a:rPr>
              <a:t>Interpretation</a:t>
            </a:r>
          </a:p>
          <a:p>
            <a:pPr algn="l"/>
            <a:r>
              <a:rPr sz="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E8EEF3"/>
                </a:solidFill>
                <a:latin typeface="Calibri"/>
              </a:rPr>
              <a:t>► GBM achieves F1=0.47 on highly imbalanced data</a:t>
            </a:r>
          </a:p>
          <a:p>
            <a:pPr algn="l"/>
            <a:r>
              <a:rPr sz="1100" b="0" i="0">
                <a:solidFill>
                  <a:srgbClr val="E8EEF3"/>
                </a:solidFill>
                <a:latin typeface="Calibri"/>
              </a:rPr>
              <a:t>► Crypto features carry genuine predictive signal for stress detection</a:t>
            </a:r>
          </a:p>
          <a:p>
            <a:pPr algn="l"/>
            <a:r>
              <a:rPr sz="1100" b="0" i="0">
                <a:solidFill>
                  <a:srgbClr val="E8EEF3"/>
                </a:solidFill>
                <a:latin typeface="Calibri"/>
              </a:rPr>
              <a:t>► ROC-AUC 0.74 &gt;&gt; 0.5 random baseline</a:t>
            </a:r>
          </a:p>
          <a:p>
            <a:pPr algn="l"/>
            <a:r>
              <a:rPr sz="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8A9BAD"/>
                </a:solidFill>
                <a:latin typeface="Calibri"/>
              </a:rPr>
              <a:t>► Limitation: Low recall in rare stress events</a:t>
            </a:r>
          </a:p>
          <a:p>
            <a:pPr algn="l"/>
            <a:r>
              <a:rPr sz="1100" b="0" i="0">
                <a:solidFill>
                  <a:srgbClr val="8A9BAD"/>
                </a:solidFill>
                <a:latin typeface="Calibri"/>
              </a:rPr>
              <a:t>► Threshold tuning critical for real deployment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760720"/>
            <a:ext cx="11155680" cy="82296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338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3"/>
                </a:solidFill>
                <a:latin typeface="Calibri"/>
              </a:rPr>
              <a:t>Practical implication: A portfolio manager monitoring BTC dynamics could use the signal layer to anticipate stress periods in equity or safe-haven markets 1 day in advance — even before the stress materialises in those markets.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AD"/>
                </a:solidFill>
                <a:latin typeface="Calibri"/>
              </a:rPr>
              <a:t>12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Georgia"/>
              </a:rPr>
              <a:t>CONCLUSIONS &amp; FUTURE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48640"/>
            <a:ext cx="11274552" cy="2743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85800"/>
            <a:ext cx="3657600" cy="34747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85800"/>
            <a:ext cx="3657600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8046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86AB"/>
                </a:solidFill>
                <a:latin typeface="Georgia"/>
              </a:rPr>
              <a:t>C1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20700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Forecastability Confirmed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645920"/>
            <a:ext cx="3429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3"/>
                </a:solidFill>
                <a:latin typeface="Calibri"/>
              </a:rPr>
              <a:t>Time-varying BTC–asset dependencies are statistically forecastable one step ahead. Persistence in the correlation series is the dominant signal — not cross-asset momentum.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685800"/>
            <a:ext cx="3657600" cy="34747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685800"/>
            <a:ext cx="3657600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8046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86AB"/>
                </a:solidFill>
                <a:latin typeface="Georgia"/>
              </a:rPr>
              <a:t>C2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20700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ML Outperforms DCC-GARCH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645920"/>
            <a:ext cx="3429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3"/>
                </a:solidFill>
                <a:latin typeface="Calibri"/>
              </a:rPr>
              <a:t>XGBoost and GBM significantly outperform the DCC-GARCH(1,1) benchmark (DM test, p&lt;0.05) on most (asset, window) pairs in the 30-day window. Advantage diminishes at longer windows (90d) where AR(1) is near-competitive.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84464" y="685800"/>
            <a:ext cx="3657600" cy="34747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84464" y="685800"/>
            <a:ext cx="3657600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8046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86AB"/>
                </a:solidFill>
                <a:latin typeface="Georgia"/>
              </a:rPr>
              <a:t>C3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120700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Investor Signal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1645920"/>
            <a:ext cx="3429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3"/>
                </a:solidFill>
                <a:latin typeface="Calibri"/>
              </a:rPr>
              <a:t>Crypto-derived features provide early warning of stress days in conventional markets (GBM: F1=0.47, AUC=0.74). Useful as a supplementary risk signal.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43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AB"/>
                </a:solidFill>
                <a:latin typeface="Georgia"/>
              </a:rPr>
              <a:t>Limitations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091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AD"/>
                </a:solidFill>
                <a:latin typeface="Calibri"/>
              </a:rPr>
              <a:t>▪  Single base asset (BTC) — extension to ETH, SOL needed</a:t>
            </a:r>
          </a:p>
          <a:p>
            <a:pPr algn="l"/>
            <a:r>
              <a:rPr sz="1100" b="0" i="0">
                <a:solidFill>
                  <a:srgbClr val="8A9BAD"/>
                </a:solidFill>
                <a:latin typeface="Calibri"/>
              </a:rPr>
              <a:t>▪  Transaction costs not modeled — real-world returns will be lower</a:t>
            </a:r>
          </a:p>
          <a:p>
            <a:pPr algn="l"/>
            <a:r>
              <a:rPr sz="1100" b="0" i="0">
                <a:solidFill>
                  <a:srgbClr val="8A9BAD"/>
                </a:solidFill>
                <a:latin typeface="Calibri"/>
              </a:rPr>
              <a:t>▪  Signal layer recall remains low on rare stress events</a:t>
            </a:r>
          </a:p>
          <a:p>
            <a:pPr algn="l"/>
            <a:r>
              <a:rPr sz="1100" b="0" i="0">
                <a:solidFill>
                  <a:srgbClr val="8A9BAD"/>
                </a:solidFill>
                <a:latin typeface="Calibri"/>
              </a:rPr>
              <a:t>▪  DCC-GARCH assumes bivariate normality — fat tails ignored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343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AB"/>
                </a:solidFill>
                <a:latin typeface="Georgia"/>
              </a:rPr>
              <a:t>Future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7091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3"/>
                </a:solidFill>
                <a:latin typeface="Calibri"/>
              </a:rPr>
              <a:t>▪  Extend to multivariate vine-copula dependency modeling</a:t>
            </a:r>
          </a:p>
          <a:p>
            <a:pPr algn="l"/>
            <a:r>
              <a:rPr sz="1100" b="0" i="0">
                <a:solidFill>
                  <a:srgbClr val="E8EEF3"/>
                </a:solidFill>
                <a:latin typeface="Calibri"/>
              </a:rPr>
              <a:t>▪  Add LSTM / Transformer for sequential dependency forecasting</a:t>
            </a:r>
          </a:p>
          <a:p>
            <a:pPr algn="l"/>
            <a:r>
              <a:rPr sz="1100" b="0" i="0">
                <a:solidFill>
                  <a:srgbClr val="E8EEF3"/>
                </a:solidFill>
                <a:latin typeface="Calibri"/>
              </a:rPr>
              <a:t>▪  Cross-market signal layer with macro features (VIX, DXY)</a:t>
            </a:r>
          </a:p>
          <a:p>
            <a:pPr algn="l"/>
            <a:r>
              <a:rPr sz="1100" b="0" i="0">
                <a:solidFill>
                  <a:srgbClr val="E8EEF3"/>
                </a:solidFill>
                <a:latin typeface="Calibri"/>
              </a:rPr>
              <a:t>▪  Regime-conditioned model selection (HMM regimes)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00800"/>
            <a:ext cx="11274552" cy="41148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455664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86AB"/>
                </a:solidFill>
                <a:latin typeface="Calibri"/>
              </a:rPr>
              <a:t>Full pipeline, notebooks &amp; reproducibility scripts:  github.com/b0gdaan/master-thesis   |   GPA: 8.0 / 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Georgia"/>
              </a:rPr>
              <a:t>Questions?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3200400"/>
            <a:ext cx="548640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3375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8EEF3"/>
                </a:solidFill>
                <a:latin typeface="Georgia"/>
              </a:rPr>
              <a:t>Thank you for your attention.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023360"/>
            <a:ext cx="9875520" cy="146304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Bogdan Babaev</a:t>
            </a:r>
          </a:p>
          <a:p>
            <a:pPr algn="l"/>
            <a:r>
              <a:rPr sz="1100" b="0" i="0">
                <a:solidFill>
                  <a:srgbClr val="8A9BAD"/>
                </a:solidFill>
                <a:latin typeface="Calibri"/>
              </a:rPr>
              <a:t>M.Sc. Artificial Intelligence — University of Kragujevac, Serbia</a:t>
            </a:r>
          </a:p>
          <a:p>
            <a:pPr algn="l"/>
            <a:r>
              <a:rPr sz="1100" b="0" i="0">
                <a:solidFill>
                  <a:srgbClr val="2E86AB"/>
                </a:solidFill>
                <a:latin typeface="Calibri"/>
              </a:rPr>
              <a:t>babaev.bogdan.ru@gmail.com   ·   github.com/b0gdaan   ·   linkedin.com/in/bogdan-b-34482b203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715000"/>
            <a:ext cx="11274552" cy="109728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8064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86AB"/>
                </a:solidFill>
                <a:latin typeface="Georgia"/>
              </a:rPr>
              <a:t>7 assets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217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A9BAD"/>
                </a:solidFill>
                <a:latin typeface="Calibri"/>
              </a:rPr>
              <a:t>BTC + 6 conventional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58064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86AB"/>
                </a:solidFill>
                <a:latin typeface="Georgia"/>
              </a:rPr>
              <a:t>168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6217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A9BAD"/>
                </a:solidFill>
                <a:latin typeface="Calibri"/>
              </a:rPr>
              <a:t>24 pairs × 7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58064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86AB"/>
                </a:solidFill>
                <a:latin typeface="Georgia"/>
              </a:rPr>
              <a:t>5+ years OOS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5776" y="6217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A9BAD"/>
                </a:solidFill>
                <a:latin typeface="Calibri"/>
              </a:rPr>
              <a:t>2021–2026 test period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8624" y="58064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86AB"/>
                </a:solidFill>
                <a:latin typeface="Georgia"/>
              </a:rPr>
              <a:t>p &lt; 0.05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8624" y="6217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A9BAD"/>
                </a:solidFill>
                <a:latin typeface="Calibri"/>
              </a:rPr>
              <a:t>DM significance (XGBoost)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58064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86AB"/>
                </a:solidFill>
                <a:latin typeface="Georgia"/>
              </a:rPr>
              <a:t>F1 = 0.47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1472" y="6217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A9BAD"/>
                </a:solidFill>
                <a:latin typeface="Calibri"/>
              </a:rPr>
              <a:t>Stress-day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